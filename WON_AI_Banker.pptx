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옆자리 행원이 사라진 시대,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                                      불완전판매 예방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7315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111827"/>
                </a:solidFill>
                <a:latin typeface="맑은 고딕"/>
              </a:rPr>
              <a:t>옆에 행원이 없으면,</a:t>
            </a:r>
          </a:p>
          <a:p>
            <a:pPr algn="l">
              <a:lnSpc>
                <a:spcPct val="115000"/>
              </a:lnSpc>
            </a:pPr>
            <a:r>
              <a:rPr sz="5400" b="1">
                <a:solidFill>
                  <a:srgbClr val="1B64DA"/>
                </a:solidFill>
                <a:latin typeface="맑은 고딕"/>
              </a:rPr>
              <a:t>우리</a:t>
            </a:r>
            <a:r>
              <a:rPr sz="5400" b="1">
                <a:solidFill>
                  <a:srgbClr val="111827"/>
                </a:solidFill>
                <a:latin typeface="맑은 고딕"/>
              </a:rPr>
              <a:t>의 다음 클릭이</a:t>
            </a:r>
          </a:p>
          <a:p>
            <a:pPr algn="l">
              <a:lnSpc>
                <a:spcPct val="115000"/>
              </a:lnSpc>
            </a:pPr>
            <a:r>
              <a:rPr sz="5400" b="1">
                <a:solidFill>
                  <a:srgbClr val="111827"/>
                </a:solidFill>
                <a:latin typeface="맑은 고딕"/>
              </a:rPr>
              <a:t>위험합니다.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57200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6400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WON AI 뱅커는 마이데이터 기반 개인화 경고와</a:t>
            </a:r>
          </a:p>
          <a:p>
            <a:pPr algn="l">
              <a:lnSpc>
                <a:spcPct val="17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음성 안내로, 사라진 옆자리 행원의 역할을</a:t>
            </a:r>
          </a:p>
          <a:p>
            <a:pPr algn="l">
              <a:lnSpc>
                <a:spcPct val="17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디지털에 다시 앉힙니다.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280160"/>
            <a:ext cx="22860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37160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374151"/>
                </a:solidFill>
                <a:latin typeface="맑은 고딕"/>
              </a:rPr>
              <a:t>투자성향 분석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8288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874519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74151"/>
                </a:solidFill>
                <a:latin typeface="맑은 고딕"/>
              </a:rPr>
              <a:t>Q. 손실 감수도?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2860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3317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74151"/>
                </a:solidFill>
                <a:latin typeface="맑은 고딕"/>
              </a:rPr>
              <a:t>Q. 투자 경험은?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743200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2788920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374151"/>
                </a:solidFill>
                <a:latin typeface="맑은 고딕"/>
              </a:rPr>
              <a:t>Q. 투자 목표?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097280"/>
            <a:ext cx="22860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0" y="11887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B64DA"/>
                </a:solidFill>
                <a:latin typeface="맑은 고딕"/>
              </a:rPr>
              <a:t>AI 사전 경고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1691640"/>
            <a:ext cx="2011680" cy="1645920"/>
          </a:xfrm>
          <a:prstGeom prst="roundRect">
            <a:avLst>
              <a:gd name="adj" fmla="val 8000"/>
            </a:avLst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1828800"/>
            <a:ext cx="1737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>
                <a:solidFill>
                  <a:srgbClr val="374151"/>
                </a:solidFill>
                <a:latin typeface="맑은 고딕"/>
              </a:rPr>
              <a:t>⚠ 경고 1. 유동성</a:t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374151"/>
                </a:solidFill>
                <a:latin typeface="맑은 고딕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374151"/>
                </a:solidFill>
                <a:latin typeface="맑은 고딕"/>
              </a:rPr>
              <a:t>이혜원님,</a:t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374151"/>
                </a:solidFill>
                <a:latin typeface="맑은 고딕"/>
              </a:rPr>
              <a:t>자동이체 1,405,000원</a:t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374151"/>
                </a:solidFill>
                <a:latin typeface="맑은 고딕"/>
              </a:rPr>
              <a:t>예정. 30만원 묶으면</a:t>
            </a:r>
          </a:p>
          <a:p>
            <a:pPr algn="l">
              <a:lnSpc>
                <a:spcPct val="145000"/>
              </a:lnSpc>
            </a:pPr>
            <a:r>
              <a:rPr sz="850" b="0">
                <a:solidFill>
                  <a:srgbClr val="374151"/>
                </a:solidFill>
                <a:latin typeface="맑은 고딕"/>
              </a:rPr>
              <a:t>잔액 부족 위험.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361188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361188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맑은 고딕"/>
              </a:rPr>
              <a:t>다시 생각해볼게요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15400" y="4114800"/>
            <a:ext cx="2011680" cy="41148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411480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네, 그래도 진행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914400"/>
            <a:ext cx="2286000" cy="4389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10058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1B64DA"/>
                </a:solidFill>
                <a:latin typeface="맑은 고딕"/>
              </a:rPr>
              <a:t>📊 마이데이터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137160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이번 달 월급 흐름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1691640"/>
            <a:ext cx="844905" cy="201168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040465" y="1691640"/>
            <a:ext cx="402336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42801" y="1691640"/>
            <a:ext cx="160934" cy="201168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603735" y="1691640"/>
            <a:ext cx="241401" cy="201168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60" y="19659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>
                <a:solidFill>
                  <a:srgbClr val="6B7280"/>
                </a:solidFill>
                <a:latin typeface="맑은 고딕"/>
              </a:rPr>
              <a:t>고정 변동 적금 여유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95560" y="2468880"/>
            <a:ext cx="2011680" cy="1737360"/>
          </a:xfrm>
          <a:prstGeom prst="roundRect">
            <a:avLst>
              <a:gd name="adj" fmla="val 6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87000" y="25603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맑은 고딕"/>
              </a:rPr>
              <a:t>⚠ 꼭 확인하세요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28346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374151"/>
                </a:solidFill>
                <a:latin typeface="맑은 고딕"/>
              </a:rPr>
              <a:t>손실 시나리오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374151"/>
                </a:solidFill>
                <a:latin typeface="맑은 고딕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374151"/>
                </a:solidFill>
                <a:latin typeface="맑은 고딕"/>
              </a:rPr>
              <a:t>300,000원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374151"/>
                </a:solidFill>
                <a:latin typeface="맑은 고딕"/>
              </a:rPr>
              <a:t>→ 198,000원</a:t>
            </a:r>
          </a:p>
          <a:p>
            <a:pPr algn="l">
              <a:lnSpc>
                <a:spcPct val="150000"/>
              </a:lnSpc>
            </a:pPr>
            <a:r>
              <a:rPr sz="900" b="0">
                <a:solidFill>
                  <a:srgbClr val="374151"/>
                </a:solidFill>
                <a:latin typeface="맑은 고딕"/>
              </a:rPr>
              <a:t>-34%</a:t>
            </a:r>
          </a:p>
        </p:txBody>
      </p:sp>
      <p:sp>
        <p:nvSpPr>
          <p:cNvPr id="38" name="Oval 37"/>
          <p:cNvSpPr/>
          <p:nvPr/>
        </p:nvSpPr>
        <p:spPr>
          <a:xfrm>
            <a:off x="-1371600" y="5943600"/>
            <a:ext cx="3657600" cy="22860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우리은행 × SSAFY AI-금융소비자보호 아이디어 경진대회 2026  ·  팀 [팀명]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●  SCENE 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7315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5000" b="1">
                <a:solidFill>
                  <a:srgbClr val="111827"/>
                </a:solidFill>
                <a:latin typeface="맑은 고딕"/>
              </a:rPr>
              <a:t>5년 사이,</a:t>
            </a:r>
          </a:p>
          <a:p>
            <a:pPr algn="l">
              <a:lnSpc>
                <a:spcPct val="120000"/>
              </a:lnSpc>
            </a:pPr>
            <a:r>
              <a:rPr sz="5000" b="1">
                <a:solidFill>
                  <a:srgbClr val="111827"/>
                </a:solidFill>
                <a:latin typeface="맑은 고딕"/>
              </a:rPr>
              <a:t>동네 은행이 </a:t>
            </a:r>
            <a:r>
              <a:rPr sz="5000" b="1">
                <a:solidFill>
                  <a:srgbClr val="1B64DA"/>
                </a:solidFill>
                <a:latin typeface="맑은 고딕"/>
              </a:rPr>
              <a:t>사라졌습니다.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2628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노년층 요구는 단순 잔액조회가 아닙니다.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연금 수령, 병원비 이체, 정기지출 설정 같은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일상 밀착형 금융 — 점포 사라지면 곧 금융 접근권 차단.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9CA3AF"/>
                </a:solidFill>
                <a:latin typeface="맑은 고딕"/>
              </a:rPr>
              <a:t>출처. 한국경제 「은행 점포 폐쇄 가속, 작년 100개 넘게 줄었다」 (2026.01)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737360"/>
            <a:ext cx="39319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031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374151"/>
                </a:solidFill>
                <a:latin typeface="맑은 고딕"/>
              </a:rPr>
              <a:t>최근 5년 은행 점포 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560320"/>
            <a:ext cx="39319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0" b="1">
                <a:solidFill>
                  <a:srgbClr val="1B64DA"/>
                </a:solidFill>
                <a:latin typeface="맑은 고딕"/>
              </a:rPr>
              <a:t>904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개 폐쇄  ·  -14.1%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1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8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5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6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3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0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7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4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81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8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5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2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9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6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30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37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4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51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8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5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72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79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86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3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00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07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14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21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28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35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42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9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56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63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70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77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84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91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98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105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112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119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6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133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1406720" y="4617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6720" y="48006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2020년 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5029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374151"/>
                </a:solidFill>
                <a:latin typeface="맑은 고딕"/>
              </a:rPr>
              <a:t>6,427개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66960" y="4983480"/>
            <a:ext cx="1463040" cy="41148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46720" y="5486399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2025년 9월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46720" y="5714999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DC2626"/>
                </a:solidFill>
                <a:latin typeface="맑은 고딕"/>
              </a:rPr>
              <a:t>5,523개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66960" y="5669280"/>
            <a:ext cx="1252728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●  PROBLEM  01  ·  디지털 격차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6400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11827"/>
                </a:solidFill>
                <a:latin typeface="맑은 고딕"/>
              </a:rPr>
              <a:t>60대는 카톡을 합니다.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1B64DA"/>
                </a:solidFill>
                <a:latin typeface="맑은 고딕"/>
              </a:rPr>
              <a:t>70</a:t>
            </a:r>
            <a:r>
              <a:rPr sz="3800" b="1">
                <a:solidFill>
                  <a:srgbClr val="111827"/>
                </a:solidFill>
                <a:latin typeface="맑은 고딕"/>
              </a:rPr>
              <a:t>대는 </a:t>
            </a:r>
            <a:r>
              <a:rPr sz="3800" b="1">
                <a:solidFill>
                  <a:srgbClr val="DC2626"/>
                </a:solidFill>
                <a:latin typeface="맑은 고딕"/>
              </a:rPr>
              <a:t>인터넷</a:t>
            </a:r>
            <a:r>
              <a:rPr sz="3800" b="1">
                <a:solidFill>
                  <a:srgbClr val="111827"/>
                </a:solidFill>
                <a:latin typeface="맑은 고딕"/>
              </a:rPr>
              <a:t>을 못 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9436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8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같은 "고령층" 안에 거대한 절벽이 있습니다.</a:t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KISDI 2024 조사에서 70대의 인터넷 활용은</a:t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5점 만점에 1.85점, 거의 낙제 수준입니다.</a:t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/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그런데도 65세 이상 38%는</a:t>
            </a:r>
          </a:p>
          <a:p>
            <a:pPr algn="l">
              <a:lnSpc>
                <a:spcPct val="18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"은행앱 쓰고 싶다"고 답했습니다.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280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우리가 본 디지털 절벽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508760"/>
            <a:ext cx="219456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242316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0" y="19202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1920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B64DA"/>
                </a:solidFill>
                <a:latin typeface="맑은 고딕"/>
              </a:rP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54203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메신저 격차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8036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60대 4.23점 — 국민 평균 수준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70대 1점대 — 낙제</a:t>
            </a:r>
          </a:p>
        </p:txBody>
      </p:sp>
      <p:sp>
        <p:nvSpPr>
          <p:cNvPr id="23" name="Oval 22"/>
          <p:cNvSpPr/>
          <p:nvPr/>
        </p:nvSpPr>
        <p:spPr>
          <a:xfrm>
            <a:off x="704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1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8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5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2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9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6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3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0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7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74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1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88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5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2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09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16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3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30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37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4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8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5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2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79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86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93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0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7088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40880" y="36118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40880" y="36118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33488" y="356616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60대는 카톡·문자 OK</a:t>
            </a:r>
          </a:p>
        </p:txBody>
      </p:sp>
      <p:sp>
        <p:nvSpPr>
          <p:cNvPr id="56" name="Oval 55"/>
          <p:cNvSpPr/>
          <p:nvPr/>
        </p:nvSpPr>
        <p:spPr>
          <a:xfrm>
            <a:off x="7040880" y="374904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40880" y="374904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33488" y="370332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70대는 통화 위주</a:t>
            </a:r>
          </a:p>
        </p:txBody>
      </p:sp>
      <p:sp>
        <p:nvSpPr>
          <p:cNvPr id="59" name="Oval 58"/>
          <p:cNvSpPr/>
          <p:nvPr/>
        </p:nvSpPr>
        <p:spPr>
          <a:xfrm>
            <a:off x="7040880" y="388620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40880" y="388620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33488" y="384048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KISDI 2024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18320" y="1737360"/>
            <a:ext cx="242316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601200" y="192024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0" y="192024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DC2626"/>
                </a:solidFill>
                <a:latin typeface="맑은 고딕"/>
              </a:rPr>
              <a:t>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254203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인터넷 격차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01200" y="288036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60대 3.39점 → 70대 1.85점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격차 1.54점 (절벽)</a:t>
            </a:r>
          </a:p>
        </p:txBody>
      </p:sp>
      <p:sp>
        <p:nvSpPr>
          <p:cNvPr id="67" name="Oval 66"/>
          <p:cNvSpPr/>
          <p:nvPr/>
        </p:nvSpPr>
        <p:spPr>
          <a:xfrm>
            <a:off x="960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67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74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81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88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95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02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9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6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23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30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37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44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51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58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65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72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79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86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93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100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7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14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21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8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35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42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49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56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631200" y="342900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601200" y="36118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601200" y="36118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93808" y="356616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단순 검색도 어려움</a:t>
            </a:r>
          </a:p>
        </p:txBody>
      </p:sp>
      <p:sp>
        <p:nvSpPr>
          <p:cNvPr id="100" name="Oval 99"/>
          <p:cNvSpPr/>
          <p:nvPr/>
        </p:nvSpPr>
        <p:spPr>
          <a:xfrm>
            <a:off x="9601200" y="374904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601200" y="374904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93808" y="370332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뉴스·정보 차단</a:t>
            </a:r>
          </a:p>
        </p:txBody>
      </p:sp>
      <p:sp>
        <p:nvSpPr>
          <p:cNvPr id="103" name="Oval 102"/>
          <p:cNvSpPr/>
          <p:nvPr/>
        </p:nvSpPr>
        <p:spPr>
          <a:xfrm>
            <a:off x="9601200" y="388620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601200" y="388620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93808" y="384048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온라인 일상 불가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858000" y="4114800"/>
            <a:ext cx="242316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040880" y="42976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40880" y="42976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F59E0B"/>
                </a:solidFill>
                <a:latin typeface="맑은 고딕"/>
              </a:rPr>
              <a:t>💰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40880" y="491947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금융앱 격차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40880" y="525780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실제 모바일뱅킹 이용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60대 약 30% / 70대 한자릿수</a:t>
            </a:r>
          </a:p>
        </p:txBody>
      </p:sp>
      <p:sp>
        <p:nvSpPr>
          <p:cNvPr id="111" name="Oval 110"/>
          <p:cNvSpPr/>
          <p:nvPr/>
        </p:nvSpPr>
        <p:spPr>
          <a:xfrm>
            <a:off x="704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11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18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25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32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39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46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53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60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67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74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81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88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95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02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09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16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23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30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37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44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51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58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65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72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79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86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93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00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07088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7040880" y="598932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040880" y="598932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333488" y="594360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가입 ≠ 실사용</a:t>
            </a:r>
          </a:p>
        </p:txBody>
      </p:sp>
      <p:sp>
        <p:nvSpPr>
          <p:cNvPr id="144" name="Oval 143"/>
          <p:cNvSpPr/>
          <p:nvPr/>
        </p:nvSpPr>
        <p:spPr>
          <a:xfrm>
            <a:off x="7040880" y="61264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040880" y="61264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333488" y="608076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진입 단계서 포기</a:t>
            </a:r>
          </a:p>
        </p:txBody>
      </p:sp>
      <p:sp>
        <p:nvSpPr>
          <p:cNvPr id="147" name="Oval 146"/>
          <p:cNvSpPr/>
          <p:nvPr/>
        </p:nvSpPr>
        <p:spPr>
          <a:xfrm>
            <a:off x="7040880" y="626364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040880" y="626364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33488" y="621792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갤럽 2025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418320" y="4114800"/>
            <a:ext cx="242316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9601200" y="429768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601200" y="42976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22C55E"/>
                </a:solidFill>
                <a:latin typeface="맑은 고딕"/>
              </a:rPr>
              <a:t>💬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601200" y="491947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욕구는 있다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601200" y="525780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65세 이상 38%가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"은행앱 쓰고 싶다"</a:t>
            </a:r>
          </a:p>
        </p:txBody>
      </p:sp>
      <p:sp>
        <p:nvSpPr>
          <p:cNvPr id="155" name="Oval 154"/>
          <p:cNvSpPr/>
          <p:nvPr/>
        </p:nvSpPr>
        <p:spPr>
          <a:xfrm>
            <a:off x="960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67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74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81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88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95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02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09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16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23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30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37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44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51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58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65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72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79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86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93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00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07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14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21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128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135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142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9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56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631200" y="58064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9601200" y="598932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601200" y="598932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893808" y="594360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수요는 분명</a:t>
            </a:r>
          </a:p>
        </p:txBody>
      </p:sp>
      <p:sp>
        <p:nvSpPr>
          <p:cNvPr id="188" name="Oval 187"/>
          <p:cNvSpPr/>
          <p:nvPr/>
        </p:nvSpPr>
        <p:spPr>
          <a:xfrm>
            <a:off x="9601200" y="61264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601200" y="61264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893808" y="608076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진입 못 할 뿐</a:t>
            </a:r>
          </a:p>
        </p:txBody>
      </p:sp>
      <p:sp>
        <p:nvSpPr>
          <p:cNvPr id="191" name="Oval 190"/>
          <p:cNvSpPr/>
          <p:nvPr/>
        </p:nvSpPr>
        <p:spPr>
          <a:xfrm>
            <a:off x="9601200" y="626364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601200" y="626364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893808" y="621792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국제신문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●  PROBLEM  02  ·  진입 장벽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59436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>
                <a:solidFill>
                  <a:srgbClr val="111827"/>
                </a:solidFill>
                <a:latin typeface="맑은 고딕"/>
              </a:rPr>
              <a:t>네 단계 </a:t>
            </a:r>
            <a:r>
              <a:rPr sz="4400" b="1">
                <a:solidFill>
                  <a:srgbClr val="DC2626"/>
                </a:solidFill>
                <a:latin typeface="맑은 고딕"/>
              </a:rPr>
              <a:t>모두</a:t>
            </a:r>
            <a:r>
              <a:rPr sz="4400" b="1">
                <a:solidFill>
                  <a:srgbClr val="111827"/>
                </a:solidFill>
                <a:latin typeface="맑은 고딕"/>
              </a:rPr>
              <a:t>에서</a:t>
            </a:r>
          </a:p>
          <a:p>
            <a:pPr algn="l">
              <a:lnSpc>
                <a:spcPct val="120000"/>
              </a:lnSpc>
            </a:pPr>
            <a:r>
              <a:rPr sz="4400" b="1">
                <a:solidFill>
                  <a:srgbClr val="111827"/>
                </a:solidFill>
                <a:latin typeface="맑은 고딕"/>
              </a:rPr>
              <a:t>막힙니다.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3192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쓸 줄 모르는 게 문제가 아닙니다.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진입 단계마다 함정이 있고, 그 함정을 통과한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6B7280"/>
                </a:solidFill>
                <a:latin typeface="맑은 고딕"/>
              </a:rPr>
              <a:t>사람만 "쉬운 모드"를 만날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486400"/>
            <a:ext cx="548640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5669280"/>
            <a:ext cx="411480" cy="4114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6692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>
                <a:solidFill>
                  <a:srgbClr val="FFFFFF"/>
                </a:solidFill>
                <a:latin typeface="맑은 고딕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B64DA"/>
                </a:solidFill>
                <a:latin typeface="맑은 고딕"/>
              </a:rPr>
              <a:t>결정적 한계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52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74151"/>
                </a:solidFill>
                <a:latin typeface="맑은 고딕"/>
              </a:rPr>
              <a:t>"쉬운 모드도 도달해야 쓸 수 있다."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280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●  단계별로 어디서 막히는가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9760" y="1508760"/>
            <a:ext cx="228600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0" y="1783080"/>
            <a:ext cx="50292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49440" y="1965960"/>
            <a:ext cx="713232" cy="713232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196596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1B64DA"/>
                </a:solidFill>
                <a:latin typeface="맑은 고딕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192024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B64DA"/>
                </a:solidFill>
                <a:latin typeface="맑은 고딕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031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진입 자체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41448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"쉬운 모드"를 켜려면 먼저 앱 설치 + 본인인증 + 로그인을 통과해야 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1783080"/>
            <a:ext cx="3200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B64DA"/>
                </a:solidFill>
                <a:latin typeface="맑은 고딕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2935224"/>
            <a:ext cx="50292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49440" y="3118104"/>
            <a:ext cx="713232" cy="71323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11810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8B5CF6"/>
                </a:solidFill>
                <a:latin typeface="맑은 고딕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3072384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8B5CF6"/>
                </a:solidFill>
                <a:latin typeface="맑은 고딕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255264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인증 함정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59359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OTP는 공동인증서로, 공동인증서는 OTP로 풀어야 하는 무한루프. 셀카 인증 실패도 빈번.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84280" y="2935224"/>
            <a:ext cx="3200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5CF6"/>
                </a:solidFill>
                <a:latin typeface="맑은 고딕"/>
              </a:rPr>
              <a:t>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4087368"/>
            <a:ext cx="50292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949440" y="4270248"/>
            <a:ext cx="713232" cy="713232"/>
          </a:xfrm>
          <a:prstGeom prst="ellipse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4270248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F59E0B"/>
                </a:solidFill>
                <a:latin typeface="맑은 고딕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22452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F59E0B"/>
                </a:solidFill>
                <a:latin typeface="맑은 고딕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4407408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화면 오인지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745736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화살표 클릭 가능 인지 못 함 · 스크롤 모름 · 예시를 본인 데이터로 오해 (Toss UX 2024).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84280" y="4087368"/>
            <a:ext cx="3200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F59E0B"/>
                </a:solidFill>
                <a:latin typeface="맑은 고딕"/>
              </a:rPr>
              <a:t>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0" y="5239512"/>
            <a:ext cx="502920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949440" y="5422392"/>
            <a:ext cx="713232" cy="713232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542239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>
                <a:solidFill>
                  <a:srgbClr val="DC2626"/>
                </a:solidFill>
                <a:latin typeface="맑은 고딕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5376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DC2626"/>
                </a:solidFill>
                <a:latin typeface="맑은 고딕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55595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사기 노출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58978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진입은 못해도 송금은 함. 60대 보이스피싱 4.6배 폭증, 펀드 불완전판매 민원 30%.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84280" y="5239512"/>
            <a:ext cx="3200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C2626"/>
                </a:solidFill>
                <a:latin typeface="맑은 고딕"/>
              </a:rPr>
              <a:t>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●  PROBLEM  03  ·  피해의 무게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4000" b="1">
                <a:solidFill>
                  <a:srgbClr val="111827"/>
                </a:solidFill>
                <a:latin typeface="맑은 고딕"/>
              </a:rPr>
              <a:t>숫자가 말해주는 </a:t>
            </a:r>
            <a:r>
              <a:rPr sz="4000" b="1">
                <a:solidFill>
                  <a:srgbClr val="1B64DA"/>
                </a:solidFill>
                <a:latin typeface="맑은 고딕"/>
              </a:rPr>
              <a:t>피해 구조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6B7280"/>
                </a:solidFill>
                <a:latin typeface="맑은 고딕"/>
              </a:rPr>
              <a:t>시니어·취약계층이 집중 타격을 받습니다.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567" y="35661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887" y="38404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5600" b="1">
                <a:solidFill>
                  <a:srgbClr val="1B64DA"/>
                </a:solidFill>
                <a:latin typeface="맑은 고딕"/>
              </a:rPr>
              <a:t>30</a:t>
            </a:r>
            <a:r>
              <a:rPr sz="2200" b="1">
                <a:solidFill>
                  <a:srgbClr val="1B64DA"/>
                </a:solidFill>
                <a:latin typeface="맑은 고딕"/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887" y="47548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374151"/>
                </a:solidFill>
                <a:latin typeface="맑은 고딕"/>
              </a:rPr>
              <a:t>펀드 불완전판매 민원</a:t>
            </a: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374151"/>
                </a:solidFill>
                <a:latin typeface="맑은 고딕"/>
              </a:rPr>
              <a:t>60세 이상 비중</a:t>
            </a:r>
          </a:p>
        </p:txBody>
      </p:sp>
      <p:sp>
        <p:nvSpPr>
          <p:cNvPr id="19" name="Oval 18"/>
          <p:cNvSpPr/>
          <p:nvPr/>
        </p:nvSpPr>
        <p:spPr>
          <a:xfrm>
            <a:off x="70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2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9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26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3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0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7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4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61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8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75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82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9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6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03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0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17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24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1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38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45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52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59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66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73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80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7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4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1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8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15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22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29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36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43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50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57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64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71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78088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0887" y="5486399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00887" y="5486399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93495" y="5440679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은행 31.7% / 증권사 32.1%</a:t>
            </a:r>
          </a:p>
        </p:txBody>
      </p:sp>
      <p:sp>
        <p:nvSpPr>
          <p:cNvPr id="67" name="Oval 66"/>
          <p:cNvSpPr/>
          <p:nvPr/>
        </p:nvSpPr>
        <p:spPr>
          <a:xfrm>
            <a:off x="700887" y="5614415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0887" y="5614415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93495" y="5568695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인구 비중보다 훨씬 높음</a:t>
            </a:r>
          </a:p>
        </p:txBody>
      </p:sp>
      <p:sp>
        <p:nvSpPr>
          <p:cNvPr id="70" name="Oval 69"/>
          <p:cNvSpPr/>
          <p:nvPr/>
        </p:nvSpPr>
        <p:spPr>
          <a:xfrm>
            <a:off x="700887" y="5742431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0887" y="5742431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3495" y="5696711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금소법 사각지대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267047" y="35661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41367" y="38404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5600" b="1">
                <a:solidFill>
                  <a:srgbClr val="DC2626"/>
                </a:solidFill>
                <a:latin typeface="맑은 고딕"/>
              </a:rPr>
              <a:t>4.6</a:t>
            </a:r>
            <a:r>
              <a:rPr sz="2200" b="1">
                <a:solidFill>
                  <a:srgbClr val="DC2626"/>
                </a:solidFill>
                <a:latin typeface="맑은 고딕"/>
              </a:rPr>
              <a:t>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41367" y="47548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374151"/>
                </a:solidFill>
                <a:latin typeface="맑은 고딕"/>
              </a:rPr>
              <a:t>60대 보이스피싱 피해 폭증</a:t>
            </a: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374151"/>
                </a:solidFill>
                <a:latin typeface="맑은 고딕"/>
              </a:rPr>
              <a:t>2016년 1,261건 → 2025년 5,801건</a:t>
            </a:r>
          </a:p>
        </p:txBody>
      </p:sp>
      <p:sp>
        <p:nvSpPr>
          <p:cNvPr id="76" name="Oval 75"/>
          <p:cNvSpPr/>
          <p:nvPr/>
        </p:nvSpPr>
        <p:spPr>
          <a:xfrm>
            <a:off x="454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461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68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75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82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89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496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503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510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517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524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531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538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545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52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59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566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573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580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587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94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01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608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15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22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29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643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50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657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664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671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78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5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92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99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06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13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20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27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34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41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48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55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62136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541367" y="5486399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541367" y="5486399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33975" y="5440679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2025 상반기 비중 30.6%</a:t>
            </a:r>
          </a:p>
        </p:txBody>
      </p:sp>
      <p:sp>
        <p:nvSpPr>
          <p:cNvPr id="124" name="Oval 123"/>
          <p:cNvSpPr/>
          <p:nvPr/>
        </p:nvSpPr>
        <p:spPr>
          <a:xfrm>
            <a:off x="4541367" y="5614415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541367" y="5614415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833975" y="5568695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2020년의 약 2배</a:t>
            </a:r>
          </a:p>
        </p:txBody>
      </p:sp>
      <p:sp>
        <p:nvSpPr>
          <p:cNvPr id="127" name="Oval 126"/>
          <p:cNvSpPr/>
          <p:nvPr/>
        </p:nvSpPr>
        <p:spPr>
          <a:xfrm>
            <a:off x="4541367" y="5742431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541367" y="5742431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833975" y="5696711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시니어 집중 타깃화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107527" y="356616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381847" y="38404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5600" b="1">
                <a:solidFill>
                  <a:srgbClr val="8B5CF6"/>
                </a:solidFill>
                <a:latin typeface="맑은 고딕"/>
              </a:rPr>
              <a:t>8,856</a:t>
            </a:r>
            <a:r>
              <a:rPr sz="2200" b="1">
                <a:solidFill>
                  <a:srgbClr val="8B5CF6"/>
                </a:solidFill>
                <a:latin typeface="맑은 고딕"/>
              </a:rPr>
              <a:t>억원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81847" y="47548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374151"/>
                </a:solidFill>
                <a:latin typeface="맑은 고딕"/>
              </a:rPr>
              <a:t>2025년 8월 누적 피해액</a:t>
            </a:r>
          </a:p>
          <a:p>
            <a:pPr algn="ctr">
              <a:lnSpc>
                <a:spcPct val="140000"/>
              </a:lnSpc>
            </a:pPr>
            <a:r>
              <a:rPr sz="1150" b="0">
                <a:solidFill>
                  <a:srgbClr val="374151"/>
                </a:solidFill>
                <a:latin typeface="맑은 고딕"/>
              </a:rPr>
              <a:t>역대 최고치</a:t>
            </a:r>
          </a:p>
        </p:txBody>
      </p:sp>
      <p:sp>
        <p:nvSpPr>
          <p:cNvPr id="133" name="Oval 132"/>
          <p:cNvSpPr/>
          <p:nvPr/>
        </p:nvSpPr>
        <p:spPr>
          <a:xfrm>
            <a:off x="838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45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52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59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66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73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80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87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94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01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08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15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22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929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936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943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950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957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964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971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78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985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992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99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06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13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20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27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34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41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48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55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62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69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76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83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90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97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04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11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18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25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32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39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461847" y="53492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381847" y="5486399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8381847" y="5486399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674455" y="5440679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2023년 4,472억 → 2025 폭증</a:t>
            </a:r>
          </a:p>
        </p:txBody>
      </p:sp>
      <p:sp>
        <p:nvSpPr>
          <p:cNvPr id="181" name="Oval 180"/>
          <p:cNvSpPr/>
          <p:nvPr/>
        </p:nvSpPr>
        <p:spPr>
          <a:xfrm>
            <a:off x="8381847" y="5614415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381847" y="5614415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674455" y="5568695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AI 딥페이크 사기 영향</a:t>
            </a:r>
          </a:p>
        </p:txBody>
      </p:sp>
      <p:sp>
        <p:nvSpPr>
          <p:cNvPr id="184" name="Oval 183"/>
          <p:cNvSpPr/>
          <p:nvPr/>
        </p:nvSpPr>
        <p:spPr>
          <a:xfrm>
            <a:off x="8381847" y="5742431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381847" y="5742431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674455" y="5696711"/>
            <a:ext cx="281635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6B7280"/>
                </a:solidFill>
                <a:latin typeface="맑은 고딕"/>
              </a:rPr>
              <a:t>평균 피해도 증가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640080" y="5989320"/>
            <a:ext cx="10972800" cy="5029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22960" y="598932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DC2626"/>
                </a:solidFill>
                <a:latin typeface="맑은 고딕"/>
              </a:rPr>
              <a:t>⚠  </a:t>
            </a:r>
            <a:r>
              <a:rPr sz="1100" b="0">
                <a:solidFill>
                  <a:srgbClr val="374151"/>
                </a:solidFill>
                <a:latin typeface="맑은 고딕"/>
              </a:rPr>
              <a:t>AI 음성·딥페이크 진화  —  30초 음성만으로 가족 목소리 복제. 2025년 서울 직장인은 '아들 얼굴' 딥페이크 영상통화에 </a:t>
            </a:r>
            <a:r>
              <a:rPr sz="1100" b="1">
                <a:solidFill>
                  <a:srgbClr val="DC2626"/>
                </a:solidFill>
                <a:latin typeface="맑은 고딕"/>
              </a:rPr>
              <a:t>5,000만원 송금. </a:t>
            </a:r>
            <a:r>
              <a:rPr sz="1100" b="0">
                <a:solidFill>
                  <a:srgbClr val="374151"/>
                </a:solidFill>
                <a:latin typeface="맑은 고딕"/>
              </a:rPr>
              <a:t>시니어는 "딥페이크" 개념 자체를 모릅니다.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●  PROBLEM  04  ·  기존 대응의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6400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11827"/>
                </a:solidFill>
                <a:latin typeface="맑은 고딕"/>
              </a:rPr>
              <a:t>은행도 </a:t>
            </a:r>
            <a:r>
              <a:rPr sz="4000" b="1">
                <a:solidFill>
                  <a:srgbClr val="1B64DA"/>
                </a:solidFill>
                <a:latin typeface="맑은 고딕"/>
              </a:rPr>
              <a:t>가만히</a:t>
            </a:r>
            <a:r>
              <a:rPr sz="4000" b="1">
                <a:solidFill>
                  <a:srgbClr val="111827"/>
                </a:solidFill>
                <a:latin typeface="맑은 고딕"/>
              </a:rPr>
              <a:t>있진 않았습니다.</a:t>
            </a:r>
          </a:p>
          <a:p>
            <a:pPr algn="l">
              <a:lnSpc>
                <a:spcPct val="125000"/>
              </a:lnSpc>
            </a:pPr>
            <a:r>
              <a:rPr sz="4000" b="1">
                <a:solidFill>
                  <a:srgbClr val="111827"/>
                </a:solidFill>
                <a:latin typeface="맑은 고딕"/>
              </a:rPr>
              <a:t>그런데 </a:t>
            </a:r>
            <a:r>
              <a:rPr sz="4000" b="1">
                <a:solidFill>
                  <a:srgbClr val="DC2626"/>
                </a:solidFill>
                <a:latin typeface="맑은 고딕"/>
              </a:rPr>
              <a:t>충분하지 않습니다.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7200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943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가이드라인은 "방향"만 제시했고,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실제 구현은 "글자 크기 키우기"에 머물렀습니다.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결정적으로, 그 "쉬운 모드"는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진입을 통과한 사람만 만날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737360"/>
            <a:ext cx="484632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✅  은행권이 시도한 대응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4688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4688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2423160"/>
            <a:ext cx="40050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4대 은행 모두 "고령자 모드" 출시 (2023)</a:t>
            </a:r>
          </a:p>
        </p:txBody>
      </p:sp>
      <p:sp>
        <p:nvSpPr>
          <p:cNvPr id="21" name="Oval 20"/>
          <p:cNvSpPr/>
          <p:nvPr/>
        </p:nvSpPr>
        <p:spPr>
          <a:xfrm>
            <a:off x="7223760" y="274320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74320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2697480"/>
            <a:ext cx="40050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우리은행 시니어플러스 영업점 · 사랑채 운영</a:t>
            </a:r>
          </a:p>
        </p:txBody>
      </p:sp>
      <p:sp>
        <p:nvSpPr>
          <p:cNvPr id="24" name="Oval 23"/>
          <p:cNvSpPr/>
          <p:nvPr/>
        </p:nvSpPr>
        <p:spPr>
          <a:xfrm>
            <a:off x="7223760" y="301752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60" y="301752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2971800"/>
            <a:ext cx="40050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카카오뱅크 · 토스 "간편홈" 도입</a:t>
            </a:r>
          </a:p>
        </p:txBody>
      </p:sp>
      <p:sp>
        <p:nvSpPr>
          <p:cNvPr id="27" name="Oval 26"/>
          <p:cNvSpPr/>
          <p:nvPr/>
        </p:nvSpPr>
        <p:spPr>
          <a:xfrm>
            <a:off x="7223760" y="3291839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291839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3246119"/>
            <a:ext cx="40050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금융위 "고령자 친화적 앱 구성지침" (2022)</a:t>
            </a:r>
          </a:p>
        </p:txBody>
      </p:sp>
      <p:sp>
        <p:nvSpPr>
          <p:cNvPr id="30" name="Oval 29"/>
          <p:cNvSpPr/>
          <p:nvPr/>
        </p:nvSpPr>
        <p:spPr>
          <a:xfrm>
            <a:off x="7223760" y="356616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356616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520440"/>
            <a:ext cx="40050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한도제한계좌 · 지급정지 · 안심차단 인프라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023360"/>
            <a:ext cx="4846320" cy="224028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0" y="4251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DC2626"/>
                </a:solidFill>
                <a:latin typeface="맑은 고딕"/>
              </a:rPr>
              <a:t>⚠  그런데, 한 기사 제목이 모든 걸 말합니다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4663440"/>
            <a:ext cx="4297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"고령자 모드 있다지만,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쉬운 금융은 없었다."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5321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— 브라보마이라이프, 4대 은행 앱 조사 (2025)</a:t>
            </a:r>
          </a:p>
        </p:txBody>
      </p:sp>
      <p:sp>
        <p:nvSpPr>
          <p:cNvPr id="37" name="Oval 36"/>
          <p:cNvSpPr/>
          <p:nvPr/>
        </p:nvSpPr>
        <p:spPr>
          <a:xfrm>
            <a:off x="713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0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27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4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1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8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5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62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9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6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83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90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97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04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11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18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25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2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39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6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3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60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67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1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88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95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902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9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6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0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37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44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1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58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65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72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79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86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93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00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7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1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8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35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42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49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56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63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70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77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84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91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98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05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12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19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26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133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1402320" y="5852160"/>
            <a:ext cx="20000" cy="200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20" y="594360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DC2626"/>
                </a:solidFill>
                <a:latin typeface="맑은 고딕"/>
              </a:rPr>
              <a:t>쉬운 모드도 "도달해야" 쓸 수 있다 → 진입 차단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●  SOLUTION  ·  옆자리 행원의 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그래서 저희는 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0" b="1">
                <a:solidFill>
                  <a:srgbClr val="1B64DA"/>
                </a:solidFill>
                <a:latin typeface="맑은 고딕"/>
              </a:rPr>
              <a:t>WON AI 뱅커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사라진 옆자리에 다시 앉습니다.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2920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11827"/>
                </a:solidFill>
                <a:latin typeface="맑은 고딕"/>
              </a:rPr>
              <a:t>권유하지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B64DA"/>
                </a:solidFill>
                <a:latin typeface="맑은 고딕"/>
              </a:rPr>
              <a:t>같이 고민합니다.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11827"/>
                </a:solidFill>
                <a:latin typeface="맑은 고딕"/>
              </a:rPr>
              <a:t>끝까지 함께합니다.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11827"/>
                </a:solidFill>
                <a:latin typeface="맑은 고딕"/>
              </a:rPr>
              <a:t>더 나은 금융을 위한,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1B64DA"/>
                </a:solidFill>
                <a:latin typeface="맑은 고딕"/>
              </a:rPr>
              <a:t>우리</a:t>
            </a:r>
            <a:r>
              <a:rPr sz="3800" b="1">
                <a:solidFill>
                  <a:srgbClr val="111827"/>
                </a:solidFill>
                <a:latin typeface="맑은 고딕"/>
              </a:rPr>
              <a:t>의 약속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1480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우리는 고객 한 분 한 분의 일상에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더 가까이 다가가, 더 편리하고 안전한 금융 경험을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제공하기 위해 노력하고 있습니다.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/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기술과 신뢰를 바탕으로,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당신의 내일을 함께 만들어갑니다.</a:t>
            </a:r>
          </a:p>
        </p:txBody>
      </p:sp>
      <p:sp>
        <p:nvSpPr>
          <p:cNvPr id="15" name="Oval 14"/>
          <p:cNvSpPr/>
          <p:nvPr/>
        </p:nvSpPr>
        <p:spPr>
          <a:xfrm>
            <a:off x="-1371600" y="5943600"/>
            <a:ext cx="3657600" cy="22860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280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우리가 만드는 변화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1508760"/>
            <a:ext cx="301752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1783080"/>
            <a:ext cx="2423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49440" y="19659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B64DA"/>
                </a:solidFill>
                <a:latin typeface="맑은 고딕"/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8775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B64DA"/>
                </a:solidFill>
                <a:latin typeface="맑은 고딕"/>
              </a:rPr>
              <a:t>안전한 금융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9260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마이데이터 기반 개인화 경고와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사전 차단으로 손실 예방</a:t>
            </a:r>
          </a:p>
        </p:txBody>
      </p:sp>
      <p:sp>
        <p:nvSpPr>
          <p:cNvPr id="23" name="Oval 22"/>
          <p:cNvSpPr/>
          <p:nvPr/>
        </p:nvSpPr>
        <p:spPr>
          <a:xfrm>
            <a:off x="694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1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8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5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9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6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3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0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4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1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8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5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2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9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6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3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0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4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1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8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5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2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9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6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3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0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7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49440" y="36118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36118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42048" y="356616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신용대출·자동이체 인용 경고</a:t>
            </a:r>
          </a:p>
        </p:txBody>
      </p:sp>
      <p:sp>
        <p:nvSpPr>
          <p:cNvPr id="56" name="Oval 55"/>
          <p:cNvSpPr/>
          <p:nvPr/>
        </p:nvSpPr>
        <p:spPr>
          <a:xfrm>
            <a:off x="6949440" y="3730752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373075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42048" y="3685032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딥페이크 송금 차단</a:t>
            </a:r>
          </a:p>
        </p:txBody>
      </p:sp>
      <p:sp>
        <p:nvSpPr>
          <p:cNvPr id="59" name="Oval 58"/>
          <p:cNvSpPr/>
          <p:nvPr/>
        </p:nvSpPr>
        <p:spPr>
          <a:xfrm>
            <a:off x="6949440" y="3849624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384962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42048" y="3803904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한도제한 + AI 보조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54312" y="1783080"/>
            <a:ext cx="2423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537192" y="19659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37192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B64DA"/>
                </a:solidFill>
                <a:latin typeface="맑은 고딕"/>
              </a:rPr>
              <a:t>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7192" y="258775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B64DA"/>
                </a:solidFill>
                <a:latin typeface="맑은 고딕"/>
              </a:rPr>
              <a:t>편리한 금융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37192" y="29260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음성과 단계별 동행으로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진입 단계부터 풀어드립니다</a:t>
            </a:r>
          </a:p>
        </p:txBody>
      </p:sp>
      <p:sp>
        <p:nvSpPr>
          <p:cNvPr id="67" name="Oval 66"/>
          <p:cNvSpPr/>
          <p:nvPr/>
        </p:nvSpPr>
        <p:spPr>
          <a:xfrm>
            <a:off x="953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60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67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74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81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8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5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2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9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16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23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30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37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44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51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8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65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72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79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86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93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0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7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14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1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8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35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42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49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56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537192" y="36118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537192" y="36118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29800" y="356616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음성 우선 인터페이스</a:t>
            </a:r>
          </a:p>
        </p:txBody>
      </p:sp>
      <p:sp>
        <p:nvSpPr>
          <p:cNvPr id="100" name="Oval 99"/>
          <p:cNvSpPr/>
          <p:nvPr/>
        </p:nvSpPr>
        <p:spPr>
          <a:xfrm>
            <a:off x="9537192" y="3730752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37192" y="373075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29800" y="3685032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인증 단계 동행 안내</a:t>
            </a:r>
          </a:p>
        </p:txBody>
      </p:sp>
      <p:sp>
        <p:nvSpPr>
          <p:cNvPr id="103" name="Oval 102"/>
          <p:cNvSpPr/>
          <p:nvPr/>
        </p:nvSpPr>
        <p:spPr>
          <a:xfrm>
            <a:off x="9537192" y="3849624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537192" y="384962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29800" y="3803904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한 번의 동의 · 끝까지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766560" y="4142232"/>
            <a:ext cx="2423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949440" y="432511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949440" y="43251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B64DA"/>
                </a:solidFill>
                <a:latin typeface="맑은 고딕"/>
              </a:rPr>
              <a:t>👥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4946904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B64DA"/>
                </a:solidFill>
                <a:latin typeface="맑은 고딕"/>
              </a:rPr>
              <a:t>고객 중심 금융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49440" y="5285232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같이 고민하는 옆자리 행원,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결정은 항상 고객 본인</a:t>
            </a:r>
          </a:p>
        </p:txBody>
      </p:sp>
      <p:sp>
        <p:nvSpPr>
          <p:cNvPr id="111" name="Oval 110"/>
          <p:cNvSpPr/>
          <p:nvPr/>
        </p:nvSpPr>
        <p:spPr>
          <a:xfrm>
            <a:off x="694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01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08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15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22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29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36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43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50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57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64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1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78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85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92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99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06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13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20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27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34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41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8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5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62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69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76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83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90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97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949440" y="5971032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49440" y="597103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242048" y="5925312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"잠깐만요" 3단계 경고</a:t>
            </a:r>
          </a:p>
        </p:txBody>
      </p:sp>
      <p:sp>
        <p:nvSpPr>
          <p:cNvPr id="144" name="Oval 143"/>
          <p:cNvSpPr/>
          <p:nvPr/>
        </p:nvSpPr>
        <p:spPr>
          <a:xfrm>
            <a:off x="6949440" y="6089904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949440" y="608990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242048" y="6044184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결과 강요 X · 선택지 동등</a:t>
            </a:r>
          </a:p>
        </p:txBody>
      </p:sp>
      <p:sp>
        <p:nvSpPr>
          <p:cNvPr id="147" name="Oval 146"/>
          <p:cNvSpPr/>
          <p:nvPr/>
        </p:nvSpPr>
        <p:spPr>
          <a:xfrm>
            <a:off x="6949440" y="6208776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49440" y="6208776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242048" y="6163056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고령자 페르소나 토글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354312" y="4142232"/>
            <a:ext cx="2423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9537192" y="432511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537192" y="43251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B64DA"/>
                </a:solidFill>
                <a:latin typeface="맑은 고딕"/>
              </a:rPr>
              <a:t>🌱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37192" y="4946904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B64DA"/>
                </a:solidFill>
                <a:latin typeface="맑은 고딕"/>
              </a:rPr>
              <a:t>함께 성장하는 금융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537192" y="5285232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시니어 · 청년 · 첫 투자자까지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모두를 위한 보호망</a:t>
            </a:r>
          </a:p>
        </p:txBody>
      </p:sp>
      <p:sp>
        <p:nvSpPr>
          <p:cNvPr id="155" name="Oval 154"/>
          <p:cNvSpPr/>
          <p:nvPr/>
        </p:nvSpPr>
        <p:spPr>
          <a:xfrm>
            <a:off x="953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60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67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74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81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88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95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02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09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16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23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30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37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44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51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58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65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72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79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86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93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00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07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14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121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128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135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2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49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56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9537192" y="5971032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537192" y="597103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829800" y="5925312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시니어플러스 점포 연계</a:t>
            </a:r>
          </a:p>
        </p:txBody>
      </p:sp>
      <p:sp>
        <p:nvSpPr>
          <p:cNvPr id="188" name="Oval 187"/>
          <p:cNvSpPr/>
          <p:nvPr/>
        </p:nvSpPr>
        <p:spPr>
          <a:xfrm>
            <a:off x="9537192" y="6089904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537192" y="608990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829800" y="6044184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청년 첫 투자자 보호</a:t>
            </a:r>
          </a:p>
        </p:txBody>
      </p:sp>
      <p:sp>
        <p:nvSpPr>
          <p:cNvPr id="191" name="Oval 190"/>
          <p:cNvSpPr/>
          <p:nvPr/>
        </p:nvSpPr>
        <p:spPr>
          <a:xfrm>
            <a:off x="9537192" y="6208776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537192" y="6208776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829800" y="6163056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금감원 가이드라인 반영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B64DA"/>
                </a:solidFill>
                <a:latin typeface="맑은 고딕"/>
              </a:rPr>
              <a:t>우리</a:t>
            </a:r>
            <a:r>
              <a:rPr sz="4400" b="1">
                <a:solidFill>
                  <a:srgbClr val="111827"/>
                </a:solidFill>
                <a:latin typeface="맑은 고딕"/>
              </a:rPr>
              <a:t>의 약속으로</a:t>
            </a:r>
          </a:p>
          <a:p>
            <a:pPr algn="l">
              <a:lnSpc>
                <a:spcPct val="125000"/>
              </a:lnSpc>
            </a:pPr>
            <a:r>
              <a:rPr sz="4400" b="1">
                <a:solidFill>
                  <a:srgbClr val="111827"/>
                </a:solidFill>
                <a:latin typeface="맑은 고딕"/>
              </a:rPr>
              <a:t>더 나은 금융</a:t>
            </a:r>
            <a:r>
              <a:rPr sz="4400" b="1">
                <a:solidFill>
                  <a:srgbClr val="111827"/>
                </a:solidFill>
                <a:latin typeface="맑은 고딕"/>
              </a:rPr>
              <a:t>을 만듭니다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02336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우리는 고객의 신뢰를 최우선으로 생각하며,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안전하고 편리한 금융 서비스를 통해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모두가 함께 성장하는 내일을 만들어갑니다.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891540" cy="219456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8" y="6345936"/>
            <a:ext cx="891540" cy="32918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5336" y="6510528"/>
            <a:ext cx="594360" cy="16459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20824" y="6291072"/>
            <a:ext cx="713232" cy="38404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15184" y="6428232"/>
            <a:ext cx="1069848" cy="24688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6373368"/>
            <a:ext cx="594360" cy="3017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6483096"/>
            <a:ext cx="772668" cy="19202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5444" y="6400800"/>
            <a:ext cx="713232" cy="2743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89804" y="6510528"/>
            <a:ext cx="653796" cy="16459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943600"/>
            <a:ext cx="530352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6080760"/>
            <a:ext cx="365760" cy="36576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8076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맑은 고딕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06247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B64DA"/>
                </a:solidFill>
                <a:latin typeface="맑은 고딕"/>
              </a:rPr>
              <a:t>옆자리 행원의 귀환  </a:t>
            </a:r>
            <a:r>
              <a:rPr sz="1000" b="0">
                <a:solidFill>
                  <a:srgbClr val="6B7280"/>
                </a:solidFill>
                <a:latin typeface="맑은 고딕"/>
              </a:rPr>
              <a:t>· 우리은행은 디지털에서도 같은 자리에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6309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AI는 권유하지 않습니다. 같이 고민합니다.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280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●  WON AI 뱅커가 만들어낼 변화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0" y="1508760"/>
            <a:ext cx="173736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1783080"/>
            <a:ext cx="52120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0" y="1965960"/>
            <a:ext cx="685800" cy="6858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19659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80" y="192024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B64DA"/>
                </a:solidFill>
                <a:latin typeface="맑은 고딕"/>
              </a:rPr>
              <a:t>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21031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신뢰할 수 있는 금융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231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본인 마이데이터를 인용해 경고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· 출처가 분명한 사전 차단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1783080"/>
            <a:ext cx="320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B64DA"/>
                </a:solidFill>
                <a:latin typeface="맑은 고딕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2926080"/>
            <a:ext cx="52120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8000" y="3108960"/>
            <a:ext cx="685800" cy="685800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1089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6324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22C55E"/>
                </a:solidFill>
                <a:latin typeface="맑은 고딕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80" y="32461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언제 어디서나 편리한 금융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80" y="35661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음성·텍스트·시각 멀티 모달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· 진입 단계부터 동행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2926080"/>
            <a:ext cx="320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22C55E"/>
                </a:solidFill>
                <a:latin typeface="맑은 고딕"/>
              </a:rPr>
              <a:t>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4069080"/>
            <a:ext cx="52120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0" y="4251960"/>
            <a:ext cx="685800" cy="685800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2519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26680" y="420624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8B5CF6"/>
                </a:solidFill>
                <a:latin typeface="맑은 고딕"/>
              </a:rPr>
              <a:t>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26680" y="43891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고객 중심의 금융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26680" y="47091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선택지 동등 노출 · 결과 강요 X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· 결정은 고객 본인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4069080"/>
            <a:ext cx="320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5CF6"/>
                </a:solidFill>
                <a:latin typeface="맑은 고딕"/>
              </a:rPr>
              <a:t>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75120" y="5212080"/>
            <a:ext cx="521208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58000" y="5394960"/>
            <a:ext cx="685800" cy="6858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539496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80" y="534924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1B64DA"/>
                </a:solidFill>
                <a:latin typeface="맑은 고딕"/>
              </a:rPr>
              <a:t>04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80" y="5532120"/>
            <a:ext cx="3840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함께 성장하는 금융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585216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시니어 · 청년 · 첫 투자자</a:t>
            </a:r>
          </a:p>
          <a:p>
            <a:pPr algn="l">
              <a:lnSpc>
                <a:spcPct val="140000"/>
              </a:lnSpc>
            </a:pPr>
            <a:r>
              <a:rPr sz="950" b="0">
                <a:solidFill>
                  <a:srgbClr val="6B7280"/>
                </a:solidFill>
                <a:latin typeface="맑은 고딕"/>
              </a:rPr>
              <a:t>· 모든 세대 보호망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5212080"/>
            <a:ext cx="320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B64DA"/>
                </a:solidFill>
                <a:latin typeface="맑은 고딕"/>
              </a:rPr>
              <a:t>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●  DIFFERENCE  ·  기존 vs 우리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>
                <a:solidFill>
                  <a:srgbClr val="111827"/>
                </a:solidFill>
                <a:latin typeface="맑은 고딕"/>
              </a:rPr>
              <a:t>다섯 영역, </a:t>
            </a:r>
            <a:r>
              <a:rPr sz="3800" b="1">
                <a:solidFill>
                  <a:srgbClr val="1B64DA"/>
                </a:solidFill>
                <a:latin typeface="맑은 고딕"/>
              </a:rPr>
              <a:t>모두</a:t>
            </a:r>
            <a:r>
              <a:rPr sz="3800" b="1">
                <a:solidFill>
                  <a:srgbClr val="111827"/>
                </a:solidFill>
                <a:latin typeface="맑은 고딕"/>
              </a:rPr>
              <a:t> 다르게 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4320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옆자리 행원의 역할을, 디지털 환경에 그대로 옮겼습니다.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1828800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49039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항목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3749039"/>
            <a:ext cx="4297680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749039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기존 은행앱 · 고령자 모드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749039"/>
            <a:ext cx="4846320" cy="475488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3749039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WON AI 뱅커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224527"/>
            <a:ext cx="182880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24527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진입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224527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4224527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맑은 고딕"/>
              </a:rPr>
              <a:t>앱 설치 + 본인인증 + 로그인 통과 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4224527"/>
            <a:ext cx="4846320" cy="475488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224527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249A3"/>
                </a:solidFill>
                <a:latin typeface="맑은 고딕"/>
              </a:rPr>
              <a:t>첫 화면에서 바로 (음성 우선)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700015"/>
            <a:ext cx="182880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700015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68880" y="4700015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4700015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맑은 고딕"/>
              </a:rPr>
              <a:t>글자만 큰 동일 화면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700015"/>
            <a:ext cx="4846320" cy="475488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4700015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249A3"/>
                </a:solidFill>
                <a:latin typeface="맑은 고딕"/>
              </a:rPr>
              <a:t>음성 + 단계별 동행 · 단어 하이라이트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75503"/>
            <a:ext cx="182880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5175503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경고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5175503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0" y="5175503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맑은 고딕"/>
              </a:rPr>
              <a:t>"원금손실 위험" 한 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5175503"/>
            <a:ext cx="4846320" cy="475488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49440" y="5175503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249A3"/>
                </a:solidFill>
                <a:latin typeface="맑은 고딕"/>
              </a:rPr>
              <a:t>본인 데이터 인용 · 3단계 사전 경고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650991"/>
            <a:ext cx="182880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650991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사기 차단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5650991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51760" y="5650991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맑은 고딕"/>
              </a:rPr>
              <a:t>송금 직전 차단 없음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5650991"/>
            <a:ext cx="4846320" cy="475488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5650991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249A3"/>
                </a:solidFill>
                <a:latin typeface="맑은 고딕"/>
              </a:rPr>
              <a:t>가족 송금 · 과소비 패턴 자동 탐지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6126479"/>
            <a:ext cx="182880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6126479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11827"/>
                </a:solidFill>
                <a:latin typeface="맑은 고딕"/>
              </a:rPr>
              <a:t>시니어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6126479"/>
            <a:ext cx="4297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60" y="6126479"/>
            <a:ext cx="3931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B7280"/>
                </a:solidFill>
                <a:latin typeface="맑은 고딕"/>
              </a:rPr>
              <a:t>별도 영업점 (오프라인)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60" y="6126479"/>
            <a:ext cx="4846320" cy="475488"/>
          </a:xfrm>
          <a:prstGeom prst="rect">
            <a:avLst/>
          </a:prstGeom>
          <a:solidFill>
            <a:srgbClr val="DBEAFE"/>
          </a:solidFill>
          <a:ln w="635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0" y="6126479"/>
            <a:ext cx="44805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249A3"/>
                </a:solidFill>
                <a:latin typeface="맑은 고딕"/>
              </a:rPr>
              <a:t>모바일에서도 행원 경험 · 페르소나 토글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>
                <a:solidFill>
                  <a:srgbClr val="1B64DA"/>
                </a:solidFill>
                <a:latin typeface="맑은 고딕"/>
              </a:rPr>
              <a:t>💬  옆자리 행원의 역할을 그대로 디지털에 옮겼습니다.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59E0B"/>
                </a:solidFill>
                <a:latin typeface="맑은 고딕"/>
              </a:rPr>
              <a:t>●  DEMO  01  ·  시니어 시나리오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11827"/>
                </a:solidFill>
                <a:latin typeface="맑은 고딕"/>
              </a:rPr>
              <a:t>🧓  김영자 (72)</a:t>
            </a:r>
            <a:r>
              <a:rPr sz="1800" b="0">
                <a:solidFill>
                  <a:srgbClr val="6B7280"/>
                </a:solidFill>
                <a:latin typeface="맑은 고딕"/>
              </a:rPr>
              <a:t> — 은퇴 교사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노후자금 8,000만원, 첫 펀드 가입을 고민 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80360"/>
            <a:ext cx="548640" cy="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F59E0B"/>
                </a:solidFill>
                <a:latin typeface="맑은 고딕"/>
              </a:rPr>
              <a:t>📊  마이데이터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3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6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7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8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8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1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3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5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7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8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9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9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1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2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5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6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6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7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8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9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9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0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1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2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3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388620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나이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60320" y="38862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72세 · 은퇴 교사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420624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우리은행 이용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60320" y="420624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30년 단골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452628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보유 자산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560320" y="452628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노후자금 8,000만원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4846319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대출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560320" y="4846319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없음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" y="516636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투자 경험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60320" y="516636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없음 (첫 펀드)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" y="5486400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검토 펀드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560320" y="5486400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삼성 글로벌 반도체 A-e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5806439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투자 예정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560320" y="5806439"/>
            <a:ext cx="2926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2,000만원 (자산의 25%)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35040" y="1737360"/>
            <a:ext cx="5669280" cy="36576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412480" y="3108960"/>
            <a:ext cx="914400" cy="9144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12480" y="31089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</a:rPr>
              <a:t>▶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35040" y="49834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D1D5DB"/>
                </a:solidFill>
                <a:latin typeface="맑은 고딕"/>
              </a:rPr>
              <a:t>[ 김영자 시나리오 영상 — 약 60초 ]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35040" y="553212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09360" y="56235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59E0B"/>
                </a:solidFill>
                <a:latin typeface="맑은 고딕"/>
              </a:rPr>
              <a:t>✅ 예상 결과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9360" y="5897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AI 경고 → '다시 생각해볼게요' 선택 → 원금보장형 상품으로 분기  ·  손실 0원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●  DEMO  02  ·  청년 시나리오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737360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>
                <a:solidFill>
                  <a:srgbClr val="111827"/>
                </a:solidFill>
                <a:latin typeface="맑은 고딕"/>
              </a:rPr>
              <a:t>👩  이혜원 (28)</a:t>
            </a:r>
            <a:r>
              <a:rPr sz="1800" b="0">
                <a:solidFill>
                  <a:srgbClr val="6B7280"/>
                </a:solidFill>
                <a:latin typeface="맑은 고딕"/>
              </a:rPr>
              <a:t> — 직장 3년차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7280"/>
                </a:solidFill>
                <a:latin typeface="맑은 고딕"/>
              </a:rPr>
              <a:t>월급 265만, 신용대출 3,000만, 카드값 6/5 결제 예정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88036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108960"/>
            <a:ext cx="5029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1B64DA"/>
                </a:solidFill>
                <a:latin typeface="맑은 고딕"/>
              </a:rPr>
              <a:t>📊  마이데이터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3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6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6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7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8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9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1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2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3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5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5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6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7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8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8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9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1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2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2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3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4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5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35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6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7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7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8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9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9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0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1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2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4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5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6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6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76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483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90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97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04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11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18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25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2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394400" y="374904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388620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나이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0" y="38862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28세 · 직장 3년차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4400" y="420624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월 수입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0" y="420624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2,650,000원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452628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신용대출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0" y="452628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30,000,000원 (월 30만)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4400" y="4846319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카드 결제 예정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0" y="4846319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6/5 · 423,500원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4400" y="516636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자동이체 합계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43200" y="516636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월 1,405,000원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4400" y="5486400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여유자금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0" y="548640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월 300,000원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14400" y="5806439"/>
            <a:ext cx="17373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6B7280"/>
                </a:solidFill>
                <a:latin typeface="맑은 고딕"/>
              </a:rPr>
              <a:t>투자 예정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0" y="5806439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11827"/>
                </a:solidFill>
                <a:latin typeface="맑은 고딕"/>
              </a:rPr>
              <a:t>300,000원 (여유자금 100%)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035040" y="1737360"/>
            <a:ext cx="5669280" cy="365760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 w="25400">
            <a:solidFill>
              <a:srgbClr val="1B6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412480" y="3108960"/>
            <a:ext cx="914400" cy="91440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412480" y="31089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FFFFFF"/>
                </a:solidFill>
                <a:latin typeface="맑은 고딕"/>
              </a:rPr>
              <a:t>▶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35040" y="498348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D1D5DB"/>
                </a:solidFill>
                <a:latin typeface="맑은 고딕"/>
              </a:rPr>
              <a:t>[ 이혜원 시나리오 영상 — 약 60초 ]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35040" y="5532120"/>
            <a:ext cx="5669280" cy="77724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1B64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09360" y="5623560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B64DA"/>
                </a:solidFill>
                <a:latin typeface="맑은 고딕"/>
              </a:rPr>
              <a:t>✅ 예상 결과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309360" y="5897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74151"/>
                </a:solidFill>
                <a:latin typeface="맑은 고딕"/>
              </a:rPr>
              <a:t>자동이체·카드 결제 인용 → 손실 시나리오 노출 → 본인 결정 (정보 충분히 받은 후)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5486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11827"/>
                </a:solidFill>
                <a:latin typeface="맑은 고딕"/>
              </a:rPr>
              <a:t>기술과 신뢰를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111827"/>
                </a:solidFill>
                <a:latin typeface="맑은 고딕"/>
              </a:rPr>
              <a:t>바탕으로,</a:t>
            </a:r>
          </a:p>
          <a:p>
            <a:pPr algn="l">
              <a:lnSpc>
                <a:spcPct val="125000"/>
              </a:lnSpc>
            </a:pPr>
            <a:r>
              <a:rPr sz="3800" b="1">
                <a:solidFill>
                  <a:srgbClr val="1B64DA"/>
                </a:solidFill>
                <a:latin typeface="맑은 고딕"/>
              </a:rPr>
              <a:t>우리</a:t>
            </a:r>
            <a:r>
              <a:rPr sz="3800" b="1">
                <a:solidFill>
                  <a:srgbClr val="111827"/>
                </a:solidFill>
                <a:latin typeface="맑은 고딕"/>
              </a:rPr>
              <a:t>가 만듭니다.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7200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00600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데모는 시뮬레이션이지만,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실제 우리은행 인프라 위에 바로 얹는 구조입니다.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신규 인프라 투자 부담 ↓ · 기존 자산 활용 ↑</a:t>
            </a:r>
          </a:p>
        </p:txBody>
      </p:sp>
      <p:sp>
        <p:nvSpPr>
          <p:cNvPr id="15" name="Oval 14"/>
          <p:cNvSpPr/>
          <p:nvPr/>
        </p:nvSpPr>
        <p:spPr>
          <a:xfrm>
            <a:off x="-1371600" y="5943600"/>
            <a:ext cx="3657600" cy="228600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12801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WON AI 뱅커의 기술 스택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508760"/>
            <a:ext cx="228600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0" y="1783080"/>
            <a:ext cx="2423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949440" y="19659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1B64DA"/>
                </a:solidFill>
                <a:latin typeface="맑은 고딕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8775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마이데이터 연동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9260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계좌·자동이체·카드·대출·재무목표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실제 우리은행 인프라 위에 얹는 구조</a:t>
            </a:r>
          </a:p>
        </p:txBody>
      </p:sp>
      <p:sp>
        <p:nvSpPr>
          <p:cNvPr id="23" name="Oval 22"/>
          <p:cNvSpPr/>
          <p:nvPr/>
        </p:nvSpPr>
        <p:spPr>
          <a:xfrm>
            <a:off x="694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1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8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15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9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6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3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0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57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4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71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78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5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2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99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6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13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0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34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1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8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5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2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69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76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3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0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79440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49440" y="36118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36118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42048" y="356616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실시간 자동 갱신</a:t>
            </a:r>
          </a:p>
        </p:txBody>
      </p:sp>
      <p:sp>
        <p:nvSpPr>
          <p:cNvPr id="56" name="Oval 55"/>
          <p:cNvSpPr/>
          <p:nvPr/>
        </p:nvSpPr>
        <p:spPr>
          <a:xfrm>
            <a:off x="6949440" y="3730752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49440" y="373075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42048" y="3685032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DSR·재무목표 자동 계산</a:t>
            </a:r>
          </a:p>
        </p:txBody>
      </p:sp>
      <p:sp>
        <p:nvSpPr>
          <p:cNvPr id="59" name="Oval 58"/>
          <p:cNvSpPr/>
          <p:nvPr/>
        </p:nvSpPr>
        <p:spPr>
          <a:xfrm>
            <a:off x="6949440" y="3849624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384962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42048" y="3803904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오픈뱅킹 확장 가능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354312" y="1783080"/>
            <a:ext cx="2423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537192" y="1965960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37192" y="1965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22C55E"/>
                </a:solidFill>
                <a:latin typeface="맑은 고딕"/>
              </a:rPr>
              <a:t>🎙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37192" y="2587752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음성 안내 (TTS)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37192" y="2926080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Qwen3-TTS CustomVoice "sohee"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한국 여성 화자 + Web Speech fallback</a:t>
            </a:r>
          </a:p>
        </p:txBody>
      </p:sp>
      <p:sp>
        <p:nvSpPr>
          <p:cNvPr id="67" name="Oval 66"/>
          <p:cNvSpPr/>
          <p:nvPr/>
        </p:nvSpPr>
        <p:spPr>
          <a:xfrm>
            <a:off x="953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60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67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74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81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8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5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2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09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16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23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30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37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44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51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58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65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72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79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86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93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100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107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114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121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128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135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142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149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1567192" y="3474720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537192" y="3611880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9537192" y="361188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829800" y="3566160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mp3 사전 캐시 + 단어 하이라이트</a:t>
            </a:r>
          </a:p>
        </p:txBody>
      </p:sp>
      <p:sp>
        <p:nvSpPr>
          <p:cNvPr id="100" name="Oval 99"/>
          <p:cNvSpPr/>
          <p:nvPr/>
        </p:nvSpPr>
        <p:spPr>
          <a:xfrm>
            <a:off x="9537192" y="3730752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537192" y="373075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29800" y="3685032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정지·재생 통제권</a:t>
            </a:r>
          </a:p>
        </p:txBody>
      </p:sp>
      <p:sp>
        <p:nvSpPr>
          <p:cNvPr id="103" name="Oval 102"/>
          <p:cNvSpPr/>
          <p:nvPr/>
        </p:nvSpPr>
        <p:spPr>
          <a:xfrm>
            <a:off x="9537192" y="3849624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537192" y="384962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829800" y="3803904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발음 최적화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6766560" y="4142232"/>
            <a:ext cx="2423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6949440" y="432511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949440" y="43251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8B5CF6"/>
                </a:solidFill>
                <a:latin typeface="맑은 고딕"/>
              </a:rPr>
              <a:t>⚙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49440" y="4946904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프론트엔드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949440" y="5285232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React 19 + Vite 8 SPA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GitHub Pages 자동 배포</a:t>
            </a:r>
          </a:p>
        </p:txBody>
      </p:sp>
      <p:sp>
        <p:nvSpPr>
          <p:cNvPr id="111" name="Oval 110"/>
          <p:cNvSpPr/>
          <p:nvPr/>
        </p:nvSpPr>
        <p:spPr>
          <a:xfrm>
            <a:off x="694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01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08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15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22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29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36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43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750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757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64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71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78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85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92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99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06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13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20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27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834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841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48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55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62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69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76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83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90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979440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949440" y="5971032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949440" y="597103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242048" y="5925312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모바일 폰 프레임 390×844</a:t>
            </a:r>
          </a:p>
        </p:txBody>
      </p:sp>
      <p:sp>
        <p:nvSpPr>
          <p:cNvPr id="144" name="Oval 143"/>
          <p:cNvSpPr/>
          <p:nvPr/>
        </p:nvSpPr>
        <p:spPr>
          <a:xfrm>
            <a:off x="6949440" y="6089904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949440" y="608990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242048" y="6044184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페이지 전환 0ms</a:t>
            </a:r>
          </a:p>
        </p:txBody>
      </p:sp>
      <p:sp>
        <p:nvSpPr>
          <p:cNvPr id="147" name="Oval 146"/>
          <p:cNvSpPr/>
          <p:nvPr/>
        </p:nvSpPr>
        <p:spPr>
          <a:xfrm>
            <a:off x="6949440" y="6208776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949440" y="6208776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242048" y="6163056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오프라인 캐시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9354312" y="4142232"/>
            <a:ext cx="242316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9537192" y="4325112"/>
            <a:ext cx="502920" cy="50292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537192" y="43251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DC2626"/>
                </a:solidFill>
                <a:latin typeface="맑은 고딕"/>
              </a:rPr>
              <a:t>🛡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537192" y="4946904"/>
            <a:ext cx="2057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AI 경고 룰엔진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537192" y="5285232"/>
            <a:ext cx="2057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펀드 데이터 + 사용자 마이데이터</a:t>
            </a:r>
          </a:p>
          <a:p>
            <a:pPr algn="l">
              <a:lnSpc>
                <a:spcPct val="140000"/>
              </a:lnSpc>
            </a:pPr>
            <a:r>
              <a:rPr sz="900" b="0">
                <a:solidFill>
                  <a:srgbClr val="6B7280"/>
                </a:solidFill>
                <a:latin typeface="맑은 고딕"/>
              </a:rPr>
              <a:t>결합한 3단계 경고 자동 생성</a:t>
            </a:r>
          </a:p>
        </p:txBody>
      </p:sp>
      <p:sp>
        <p:nvSpPr>
          <p:cNvPr id="155" name="Oval 154"/>
          <p:cNvSpPr/>
          <p:nvPr/>
        </p:nvSpPr>
        <p:spPr>
          <a:xfrm>
            <a:off x="953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960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67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974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981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88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995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002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009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016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023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030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037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044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051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58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065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072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079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086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093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00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07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114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121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128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135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142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149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1567192" y="5833872"/>
            <a:ext cx="20000" cy="20000"/>
          </a:xfrm>
          <a:prstGeom prst="ellipse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9537192" y="5971032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9537192" y="597103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829800" y="5925312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DSR·과소비·재무목표 영향</a:t>
            </a:r>
          </a:p>
        </p:txBody>
      </p:sp>
      <p:sp>
        <p:nvSpPr>
          <p:cNvPr id="188" name="Oval 187"/>
          <p:cNvSpPr/>
          <p:nvPr/>
        </p:nvSpPr>
        <p:spPr>
          <a:xfrm>
            <a:off x="9537192" y="6089904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537192" y="6089904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829800" y="6044184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딥페이크 송금 차단 확장</a:t>
            </a:r>
          </a:p>
        </p:txBody>
      </p:sp>
      <p:sp>
        <p:nvSpPr>
          <p:cNvPr id="191" name="Oval 190"/>
          <p:cNvSpPr/>
          <p:nvPr/>
        </p:nvSpPr>
        <p:spPr>
          <a:xfrm>
            <a:off x="9537192" y="6208776"/>
            <a:ext cx="182880" cy="18288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9537192" y="6208776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</a:rPr>
              <a:t>✓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829800" y="6163056"/>
            <a:ext cx="176479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6B7280"/>
                </a:solidFill>
                <a:latin typeface="맑은 고딕"/>
              </a:rPr>
              <a:t>LLM 연동 로드맵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11827"/>
                </a:solidFill>
                <a:latin typeface="맑은 고딕"/>
              </a:rPr>
              <a:t>사회적 가치 + </a:t>
            </a:r>
          </a:p>
          <a:p>
            <a:pPr algn="l">
              <a:lnSpc>
                <a:spcPct val="125000"/>
              </a:lnSpc>
            </a:pPr>
            <a:r>
              <a:rPr sz="3600" b="1">
                <a:solidFill>
                  <a:srgbClr val="1B64DA"/>
                </a:solidFill>
                <a:latin typeface="맑은 고딕"/>
              </a:rPr>
              <a:t>사업화 로드맵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57600"/>
            <a:ext cx="54864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금감원 2026 "따뜻한 금융" 정책과 방향성 일치.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우리은행이 선도 모델이 되면 전 금융권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6B7280"/>
                </a:solidFill>
                <a:latin typeface="맑은 고딕"/>
              </a:rPr>
              <a:t>표준 제안까지 자연스럽게 확장됩니다.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55664"/>
            <a:ext cx="891540" cy="219456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2668" y="6345936"/>
            <a:ext cx="891540" cy="32918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5336" y="6510528"/>
            <a:ext cx="594360" cy="16459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20824" y="6291072"/>
            <a:ext cx="713232" cy="38404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15184" y="6428232"/>
            <a:ext cx="1069848" cy="246888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66160" y="6373368"/>
            <a:ext cx="594360" cy="30175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41648" y="6483096"/>
            <a:ext cx="772668" cy="192024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95444" y="6400800"/>
            <a:ext cx="713232" cy="274320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89804" y="6510528"/>
            <a:ext cx="653796" cy="164592"/>
          </a:xfrm>
          <a:prstGeom prst="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585216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" y="6016752"/>
            <a:ext cx="365760" cy="365760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601675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FFFFFF"/>
                </a:solidFill>
                <a:latin typeface="맑은 고딕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97103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B64DA"/>
                </a:solidFill>
                <a:latin typeface="맑은 고딕"/>
              </a:rPr>
              <a:t>정부 정책과 정합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621792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다크패턴 방지 가이드라인(2026.04) · 사망자 명의도용 차단 일 1회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12801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11827"/>
                </a:solidFill>
                <a:latin typeface="맑은 고딕"/>
              </a:rPr>
              <a:t>●  4단계 사업화 로드맵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508760"/>
            <a:ext cx="2651760" cy="80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75120" y="1783080"/>
            <a:ext cx="52120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0" y="1965960"/>
            <a:ext cx="713232" cy="713232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196596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26680" y="1947672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6680" y="1947672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NOW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19202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WON AI 뱅커 v1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80" y="2331720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펀드 가입 플로우 · 이혜원·김영자 페르소나 토글 시연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1783080"/>
            <a:ext cx="3200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1B64DA"/>
                </a:solidFill>
                <a:latin typeface="맑은 고딕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2935224"/>
            <a:ext cx="52120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58000" y="3118104"/>
            <a:ext cx="713232" cy="713232"/>
          </a:xfrm>
          <a:prstGeom prst="ellipse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11810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26680" y="3099816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26680" y="3099816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+3M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07238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시니어 사기 차단 확장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80" y="3483864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딥페이크 송금 직전 차단 · 가족 위임 인증 도입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2935224"/>
            <a:ext cx="3200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DC2626"/>
                </a:solidFill>
                <a:latin typeface="맑은 고딕"/>
              </a:rPr>
              <a:t>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75120" y="4087368"/>
            <a:ext cx="52120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858000" y="4270248"/>
            <a:ext cx="713232" cy="713232"/>
          </a:xfrm>
          <a:prstGeom prst="ellipse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4270248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6680" y="4251960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80" y="4251960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+6M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58200" y="422452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시니어플러스 통합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26680" y="4636008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물리 행원 + AI 행원 동일 컨텍스트 공유 · 옴니채널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4087368"/>
            <a:ext cx="3200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22C55E"/>
                </a:solidFill>
                <a:latin typeface="맑은 고딕"/>
              </a:rPr>
              <a:t>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75120" y="5239512"/>
            <a:ext cx="5212080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858000" y="5422392"/>
            <a:ext cx="713232" cy="713232"/>
          </a:xfrm>
          <a:prstGeom prst="ellipse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0" y="5422392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0">
                <a:solidFill>
                  <a:srgbClr val="374151"/>
                </a:solidFill>
                <a:latin typeface="맑은 고딕"/>
              </a:rPr>
              <a:t>🌐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26680" y="5404104"/>
            <a:ext cx="640080" cy="274320"/>
          </a:xfrm>
          <a:prstGeom prst="roundRect">
            <a:avLst>
              <a:gd name="adj" fmla="val 4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26680" y="5404104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1">
                <a:solidFill>
                  <a:srgbClr val="FFFFFF"/>
                </a:solidFill>
                <a:latin typeface="맑은 고딕"/>
              </a:rPr>
              <a:t>+12M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58200" y="537667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11827"/>
                </a:solidFill>
                <a:latin typeface="맑은 고딕"/>
              </a:rPr>
              <a:t>전 금융권 표준 제안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6680" y="5788152"/>
            <a:ext cx="3931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6B7280"/>
                </a:solidFill>
                <a:latin typeface="맑은 고딕"/>
              </a:rPr>
              <a:t>금감원 가이드라인 반영 모델 · 우리은행 선도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5239512"/>
            <a:ext cx="320040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200" b="1">
                <a:solidFill>
                  <a:srgbClr val="8B5CF6"/>
                </a:solidFill>
                <a:latin typeface="맑은 고딕"/>
              </a:rPr>
              <a:t>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E8F2FF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384048"/>
            <a:ext cx="292608" cy="292608"/>
          </a:xfrm>
          <a:prstGeom prst="ellipse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7784" y="438912"/>
            <a:ext cx="182880" cy="1828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5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11827"/>
                </a:solidFill>
                <a:latin typeface="맑은 고딕"/>
              </a:rPr>
              <a:t>우리은행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384048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1B64DA"/>
                </a:solidFill>
                <a:latin typeface="맑은 고딕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338560" y="548640"/>
            <a:ext cx="411480" cy="15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9CA3AF"/>
                </a:solidFill>
                <a:latin typeface="맑은 고딕"/>
              </a:rPr>
              <a:t>2026.05  |  WOORI BANK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75720" y="6556248"/>
            <a:ext cx="118872" cy="164592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640312" y="6473952"/>
            <a:ext cx="118872" cy="246888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04904" y="6391656"/>
            <a:ext cx="118872" cy="329184"/>
          </a:xfrm>
          <a:prstGeom prst="roundRect">
            <a:avLst>
              <a:gd name="adj" fmla="val 15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>
                <a:solidFill>
                  <a:srgbClr val="111827"/>
                </a:solidFill>
                <a:latin typeface="맑은 고딕"/>
              </a:rPr>
              <a:t>권유하지 않습니다.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>
                <a:solidFill>
                  <a:srgbClr val="1B64DA"/>
                </a:solidFill>
                <a:latin typeface="맑은 고딕"/>
              </a:rPr>
              <a:t>같이 고민합니다.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4389120"/>
            <a:ext cx="457200" cy="40000"/>
          </a:xfrm>
          <a:prstGeom prst="rect">
            <a:avLst/>
          </a:prstGeom>
          <a:solidFill>
            <a:srgbClr val="1B64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옆자리 행원이 사라진 자리에, 우리가 다시 앉습니다.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1">
                <a:solidFill>
                  <a:srgbClr val="1B64DA"/>
                </a:solidFill>
                <a:latin typeface="맑은 고딕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WON AI 뱅커  ·  팀 [팀명]  · 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